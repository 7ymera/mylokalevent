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733"/>
                </a:solidFill>
                <a:latin typeface="Calibri"/>
              </a:rPr>
              <a:t>Monthly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(RM)</c:v>
                </c:pt>
              </c:strCache>
            </c:strRef>
          </c:tx>
          <c:spPr>
            <a:solidFill>
              <a:srgbClr val="1C7293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7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610</c:v>
                </c:pt>
                <c:pt idx="2">
                  <c:v>780</c:v>
                </c:pt>
                <c:pt idx="3">
                  <c:v>950</c:v>
                </c:pt>
                <c:pt idx="4">
                  <c:v>1120</c:v>
                </c:pt>
                <c:pt idx="5">
                  <c:v>1340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B7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6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name, the tagline, and that this is a live, deployed, real-integration enterprise system for TEB3323.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problems. Emphasise that these are real gaps for community organisers, advertisers, admins, and fishermen — not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one platform with three connected capabilities — events, a fishery marketplace, and a real monetised economy — all sharing the same accounts and admin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headline numbers. The key message: this is a genuinely deployed platform with live integrations — the supervisor can open it from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roles and the merge of advertiser into organizer. End on the access-control line — JWT, bcrypt, RBAC, lockout.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decoupled layers and the request flow left to right. The bottom band: GitHub auto-deploy, CORS, secret hygiene.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four groups briefly. The point is that every choice is industry-real and runs on free but production-representative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We now move into the feature walkthrough — thirteen modules that together show enterprise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account system and profiles. Right: events as the core business entity — the wizard, the RM10 fee, and the approval-to-archive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functional requirement #4, workflow automation, made visual. Payment gates submission; admin approval gates going live; the scheduler archives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is modelled on classic web-advertising real estate: premium placement costs more. Highlight the four tiers, the live price, auto-renew from credits, and impression/click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wallet is “Claude-style” prepaid billing. Non-cashable keeps it free of withdrawal concerns. It is what makes ad auto-renew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social community feed that ties back into events. Right: the fishery marketplace and fishing-spot directory that serve the coastal communities and extend digital inclusion.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functional requirement #5. All three are live. Emphasise the double payment verification and the clever demo email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dashboard is requirements #2 and #8. Show the KPI cards, the Chart.js charts (illustrated here by the revenue chart), pending queues, and user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 #7 plus the security posture. The key message: nothing significant happens without being logged, and defence is layered from hashing to CORS.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revenue streams and three profit levers. The inclusion point matters: access stays free for the public and for fishermen — monetisation targets organisers and advertisers.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assessment mapping — all eight TEB3323 requirements, each with how it is met. This is the slide the panel will care about most for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four-service topology and continuous deployment. Mention the free-tier wake delay so nobody mistakes it for a bug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I am presenting by video, I will screen-record this exact flow. Demo organizers start with RM300 credits; emails route to one visible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decision traded a simpler option for a more robust or more realistic one. Good material for panel Q&amp;A — be ready to defend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restate that all 8 requirements are met, that it solves a real problem, and invite the panel to open the live site. Thank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image" Target="../media/image-18-1.png"/><Relationship Id="rId7" Type="http://schemas.openxmlformats.org/officeDocument/2006/relationships/image" Target="../media/image-18-1.png"/><Relationship Id="rId8" Type="http://schemas.openxmlformats.org/officeDocument/2006/relationships/image" Target="../media/image-18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2.png"/><Relationship Id="rId4" Type="http://schemas.openxmlformats.org/officeDocument/2006/relationships/image" Target="../media/image-22-2.png"/><Relationship Id="rId5" Type="http://schemas.openxmlformats.org/officeDocument/2006/relationships/image" Target="../media/image-2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0456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0456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 TEKNOLOGI PETRONAS  ·  TEB3323 ENTERPRISE SYSTEM DEVELOPMENT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MyLokalEvent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Event &amp; Fishery Marketplace for Malaysia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66344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133A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0" descr="/home/claude/mle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82803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4663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deployed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069080" y="466344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133A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1" descr="/home/claude/mle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48280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7448" y="4663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integrations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315200" y="466344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133A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/home/claude/mle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8280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73568" y="4663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revenue streams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Md Hisamudin Ahmad &amp; team</a:t>
            </a:r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mylokalevent.vercel.app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SET OUT TO CLOSE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niche events have no trusted digital home — and neither do the coastal communities around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7340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7" name="Image 0" descr="/home/claude/mle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91" y="287011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715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" y="3300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events like fishing competitions in less-urbanised states are promoted only through scattered social posts.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0" y="25146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3168" y="27340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12" name="Image 1" descr="/home/claude/mle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231" y="287011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715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approvals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91456" y="3300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listings are inconsistent and unverified, with no clear path from submission to publication.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25146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22208" y="27340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17" name="Image 2" descr="/home/claude/mle/icons/analy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271" y="287011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17152" y="2715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visibility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40496" y="3300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can’t track reach or ROI; advertisers get no impressions, clicks, or CTR.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4128" y="45628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22" name="Image 3" descr="/home/claude/mle/icons/au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91" y="4698919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19072" y="4544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trail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042416" y="51297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approvals and account actions leave no reviewable record.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0" y="43434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73168" y="45628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27" name="Image 4" descr="/home/claude/mle/icons/f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231" y="4698919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4544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Fishermen left offline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91456" y="51297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Co-operatives have no digital channel to market fresh catch beyond word of mouth.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321040" y="43434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522208" y="45628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32" name="Image 5" descr="/home/claude/mle/icons/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271" y="4698919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17152" y="4544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discover locally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540496" y="51297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has nowhere to search "what’s happening near me" in these regions.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MYLOKALEVENT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connected worlds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marketplace connecting event organizers, fishermen’s co-ops, advertisers, and the public across Malaysian states and districts.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3429000" cy="128016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34540" y="3063240"/>
            <a:ext cx="1005840" cy="10058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8" name="Image 0" descr="/home/claude/mle/icons/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058" y="332475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Events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4754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directory of fishing competitions, coastal markets, and community gatherings — with a paid posting workflow and live weather.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44568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651760"/>
            <a:ext cx="3429000" cy="128016"/>
          </a:xfrm>
          <a:prstGeom prst="roundRect">
            <a:avLst>
              <a:gd name="adj" fmla="val 35714"/>
            </a:avLst>
          </a:prstGeom>
          <a:solidFill>
            <a:srgbClr val="00A896"/>
          </a:solidFill>
          <a:ln/>
        </p:spPr>
      </p:sp>
      <p:sp>
        <p:nvSpPr>
          <p:cNvPr id="13" name="Shape 10"/>
          <p:cNvSpPr/>
          <p:nvPr/>
        </p:nvSpPr>
        <p:spPr>
          <a:xfrm>
            <a:off x="5756148" y="3063240"/>
            <a:ext cx="1005840" cy="10058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4" name="Image 1" descr="/home/claude/mle/icons/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66" y="332475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7448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Fishery Marketplace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64608" y="4754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“Catch of the Day” listings from fishermen’s co-ops, plus a directory of recreational fishing spots (kolam pancing).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66176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66176" y="2651760"/>
            <a:ext cx="3429000" cy="128016"/>
          </a:xfrm>
          <a:prstGeom prst="roundRect">
            <a:avLst>
              <a:gd name="adj" fmla="val 35714"/>
            </a:avLst>
          </a:prstGeom>
          <a:solidFill>
            <a:srgbClr val="F2A900"/>
          </a:solidFill>
          <a:ln/>
        </p:spPr>
      </p:sp>
      <p:sp>
        <p:nvSpPr>
          <p:cNvPr id="19" name="Shape 15"/>
          <p:cNvSpPr/>
          <p:nvPr/>
        </p:nvSpPr>
        <p:spPr>
          <a:xfrm>
            <a:off x="9477756" y="3063240"/>
            <a:ext cx="1005840" cy="10058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20" name="Image 2" descr="/home/claude/mle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274" y="332475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49056" y="4251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Economy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586216" y="4754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postings, tiered advertising, and a prepaid credit wallet turn the directory into a sustainable marketplace.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937760" cy="4937760"/>
          </a:xfrm>
          <a:prstGeom prst="ellipse">
            <a:avLst/>
          </a:prstGeom>
          <a:solidFill>
            <a:srgbClr val="0E33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 — A RUNNING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deployed, and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external integrations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224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SendGrid · OpenWeatherMap · Supabase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93592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4688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776472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cloud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6472" y="4224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Supabase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24688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547104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with RBAC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47104" y="4224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Organizer · Co-op · Admin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4856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24688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317736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17736" y="4224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 analytics, end to 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email, and forecast in this demo is produced by a real third-party service — verified end to end, not simulated.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access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five roles — the advertiser was merged into the organizer, so one account both posts events and runs ads.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8780" y="274320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7" name="Image 0" descr="/home/claude/ml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524" y="29809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User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78992" y="429768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events, save favourites, view catches &amp; spots, post to the feed, comment, like, top up wallet.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93592" y="24231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9412" y="274320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2" name="Image 1" descr="/home/claude/mle/icons/organiz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9809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Organizer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849624" y="429768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can do + post events (paid), run ad campaigns (paid), manage own events/ads, performance dashboard.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64224" y="24231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0044" y="2743200"/>
            <a:ext cx="914400" cy="914400"/>
          </a:xfrm>
          <a:prstGeom prst="ellipse">
            <a:avLst/>
          </a:prstGeom>
          <a:solidFill>
            <a:srgbClr val="10456A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7" name="Image 2" descr="/home/claude/mle/icons/fisherm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9809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Fishermen Co-op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620256" y="429768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manage fresh-catch listings on the “Catch of the Day” board and mark items as sold.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4231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0676" y="274320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22" name="Image 3" descr="/home/claude/mle/icons/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98094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390888" y="4297680"/>
            <a:ext cx="20939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events &amp; ads, manage users, view all analytics &amp; revenue, review the full audit log.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(60-min) + bcrypt</a:t>
            </a:r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role-based guards on every endpoint   ·   5 failed logins → 15-min lockout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decoupled, cloud-native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78608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857" y="2804465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651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single-page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·  always instant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96512" y="3108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663440" y="22860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578608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3" name="Image 1" descr="/home/claude/ml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17" y="2804465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2651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8348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Uvicorn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9834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·  JSON / REST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891272" y="31089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8458200" y="228600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32520" y="2578608"/>
            <a:ext cx="868680" cy="868680"/>
          </a:xfrm>
          <a:prstGeom prst="ellipse">
            <a:avLst/>
          </a:prstGeom>
          <a:solidFill>
            <a:srgbClr val="10456A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20" name="Image 2" descr="/home/claude/ml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377" y="2804465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738360" y="2651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Storage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77824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PostgreSQL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77824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+ object store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68680" y="5074920"/>
            <a:ext cx="10442448" cy="1051560"/>
          </a:xfrm>
          <a:prstGeom prst="roundRect">
            <a:avLst>
              <a:gd name="adj" fmla="val 7826"/>
            </a:avLst>
          </a:prstGeom>
          <a:solidFill>
            <a:srgbClr val="0E3350"/>
          </a:solidFill>
          <a:ln/>
        </p:spPr>
      </p:sp>
      <p:pic>
        <p:nvPicPr>
          <p:cNvPr id="25" name="Image 3" descr="/home/claude/mle/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4924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5120640"/>
            <a:ext cx="923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source of truth.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auto-deploys both the Vercel frontend and the Render backend. CORS restricts who may call the API; secrets live in per-host env vars.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3134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pic>
        <p:nvPicPr>
          <p:cNvPr id="6" name="Image 0" descr="/home/claude/ml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611" y="246705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13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0632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Bootstrap Icons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SPA, hash routing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visualisations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(Poppins/Nunito)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6208" y="20574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3134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mle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4670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3134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56248" y="30632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(Uvicorn)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 (JWT) + bcrypt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cron jobs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498848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78992" y="47548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0456A"/>
          </a:solidFill>
          <a:ln/>
        </p:spPr>
      </p:sp>
      <p:pic>
        <p:nvPicPr>
          <p:cNvPr id="16" name="Image 2" descr="/home/claude/ml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611" y="49084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54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Storage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143000" y="5504688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bucket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36208" y="4498848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7548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A900"/>
          </a:solidFill>
          <a:ln/>
        </p:spPr>
      </p:sp>
      <p:pic>
        <p:nvPicPr>
          <p:cNvPr id="21" name="Image 3" descr="/home/claude/mle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49084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4754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 &amp; Ops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56248" y="5504688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SendGrid · OpenWeatherMap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Supabase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auto-deploy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Procfile portable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E33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754880" cy="4754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IN DETAIL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feature modules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authentication and the event lifecycle to payments, a social feed, a fishery marketplace, and full analytics.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· 1–2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the event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Accounts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register (user / organizer / fisherman); admin provisioned manually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bcrypt verify, welcome email, audit-logged logout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profiles with uploaded avatar (shown in navbar, feed, comments)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Posts” and “Saved / Joined Events” tabs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demo-account login dropdown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7744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1" name="Image 1" descr="/home/claude/mle/icons/ev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5512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— the core entity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via a multi-step submission wizard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RM10 posting fee — pay by Stripe or credits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submitted → pending → approved (live) → auto-archive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filter (state, district, category, date, fee) + sort &amp; paging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page: banner, weather, Get Directions, Save, Contact Organizer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EVENT GOES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automated event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65176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92608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31638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977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Submit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3272" y="443484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fills the multi-step wizard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88920" y="34290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090672" y="265176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6452" y="292608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2" name="Image 1" descr="/home/claude/mle/icons/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96" y="31638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82112" y="3977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Pay RM10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55264" y="443484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 or wallet credits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10912" y="34290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312664" y="265176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38444" y="2926080"/>
            <a:ext cx="914400" cy="914400"/>
          </a:xfrm>
          <a:prstGeom prst="ellipse">
            <a:avLst/>
          </a:prstGeom>
          <a:solidFill>
            <a:srgbClr val="10456A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8" name="Image 2" descr="/home/claude/mle/icons/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88" y="31638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04104" y="3977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Pending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77256" y="443484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admin review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232904" y="34290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534656" y="265176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60436" y="292608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24" name="Image 3" descr="/home/claude/ml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316382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26096" y="3977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Approved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699248" y="443484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— or rejected with a reason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454896" y="34290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9756648" y="265176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82428" y="2926080"/>
            <a:ext cx="914400" cy="914400"/>
          </a:xfrm>
          <a:prstGeom prst="ellipse">
            <a:avLst/>
          </a:prstGeom>
          <a:solidFill>
            <a:srgbClr val="5A6B78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30" name="Image 4" descr="/home/claude/mle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172" y="3163824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48088" y="39776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Archive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921240" y="4434840"/>
            <a:ext cx="1636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Auto-archived after the end date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68680" y="5715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by APScheduler: </a:t>
            </a:r>
            <a:pPr algn="ctr"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cron jobs handle event &amp; ad expiry and ad auto-renewal — no manual clean-up.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 ·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— tiered, tracked, auto-renewing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309360" cy="548640"/>
          </a:xfrm>
          <a:prstGeom prst="roundRect">
            <a:avLst>
              <a:gd name="adj" fmla="val 6667"/>
            </a:avLst>
          </a:prstGeom>
          <a:solidFill>
            <a:srgbClr val="10456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2148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shows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7 days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309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974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top strip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26974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RM130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6309360" cy="658368"/>
          </a:xfrm>
          <a:prstGeom prst="rect">
            <a:avLst/>
          </a:prstGeom>
          <a:solidFill>
            <a:srgbClr val="F1F6FA"/>
          </a:solidFill>
          <a:ln w="9525">
            <a:solidFill>
              <a:srgbClr val="D8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5584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35584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/sponsored page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335584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RM90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014216"/>
            <a:ext cx="6309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1421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401421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strip + listings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60720" y="401421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RM70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672584"/>
            <a:ext cx="6309360" cy="658368"/>
          </a:xfrm>
          <a:prstGeom prst="rect">
            <a:avLst/>
          </a:prstGeom>
          <a:solidFill>
            <a:srgbClr val="F1F6FA"/>
          </a:solidFill>
          <a:ln w="9525">
            <a:solidFill>
              <a:srgbClr val="D8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7258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banner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67258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Events-page sidebar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720" y="46725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RM40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06640" y="21488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pic>
        <p:nvPicPr>
          <p:cNvPr id="25" name="Image 0" descr="/home/claude/mle/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9535" y="2271735"/>
            <a:ext cx="266273" cy="26627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092440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updates by placement; pay with Stripe or credits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06640" y="293522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pic>
        <p:nvPicPr>
          <p:cNvPr id="28" name="Image 1" descr="/home/claude/mle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35" y="3058119"/>
            <a:ext cx="266273" cy="26627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092440" y="2889504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dates — every campaign runs 7 days from creation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406640" y="37216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pic>
        <p:nvPicPr>
          <p:cNvPr id="31" name="Image 2" descr="/home/claude/mle/icons/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535" y="3844503"/>
            <a:ext cx="266273" cy="26627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92440" y="36758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 charges credits every 7 days; stops when they run out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7406640" y="450799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pic>
        <p:nvPicPr>
          <p:cNvPr id="34" name="Image 3" descr="/home/claude/mle/icons/analy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535" y="4630887"/>
            <a:ext cx="266273" cy="26627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92440" y="446227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+ click tracking; CTR on the dashboard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406640" y="529437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pic>
        <p:nvPicPr>
          <p:cNvPr id="37" name="Image 4" descr="/home/claude/ml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535" y="5417271"/>
            <a:ext cx="266273" cy="26627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092440" y="524865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required before an ad goes live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 ·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credit wallet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usage-based billing — 1 credit = RM1, virtual and non-cashable (top-up only, no withdrawal).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2651760"/>
            <a:ext cx="1371600" cy="13716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30083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1 = 1 credit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always shown in the navbar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0" y="23774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58768" y="2578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11" name="Image 1" descr="/home/claude/mle/icons/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442" y="271028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with Stripe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77056" y="3090672"/>
            <a:ext cx="35387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 RM20 / 50 / 100 / 200 or a custom amount, via Stripe Checkout.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23774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0728" y="2578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16" name="Image 2" descr="/home/claude/mle/icons/ev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402" y="271028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seamlessly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29016" y="3090672"/>
            <a:ext cx="35387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pay event and ad fees; card is always available as a fallback.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0" y="400507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58768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21" name="Image 3" descr="/home/claude/mle/icons/au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442" y="43379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26280" y="41879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877056" y="4718304"/>
            <a:ext cx="35387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Top-ups, fees, and renewals with a running balance — a self-verifying ledger.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909560" y="400507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110728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pic>
        <p:nvPicPr>
          <p:cNvPr id="26" name="Image 4" descr="/home/claude/mle/icons/notif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402" y="43379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78240" y="418795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auto-renew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129016" y="4718304"/>
            <a:ext cx="35387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ad charges run from the wallet; a low-balance email keeps users informed.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· 5–6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social layer &amp; a fishery marketplace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comm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Feed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caption, uploaded photo, and location tag (state/district)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“Joining this event” tag that cascades into a filtered event list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and inline comments — both email the post author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avatars on every card; composer for logged-in users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tags link back to filtered events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7744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1" name="Image 1" descr="/home/claude/mle/icons/fi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5512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Fishery Marketplace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“Catch of the Day” board: species, weight, price/kg, location, photo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Fishermen mark listings as sold when the catch is gone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Spots directory (kolam pancing) with Get Directions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Google Maps links — no paid Maps API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accounts, uploads, and admin controls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· 7–9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external integrations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41448"/>
            <a:ext cx="822960" cy="82296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pay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250" y="265541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468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— Stripe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70432" y="347472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Checkout in MYR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fees, ad fees, top-ups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twice: return page + webhook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 4242 4242 4242 4242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44568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2441448"/>
            <a:ext cx="822960" cy="82296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1" name="Image 1" descr="/home/claude/mle/icons/e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265541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79008" y="2468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— SendGrid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92040" y="347472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approvals, invoices, reminders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comment notifications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demo routing to one inbox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get real delivery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66176" y="21488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2441448"/>
            <a:ext cx="822960" cy="82296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6" name="Image 2" descr="/home/claude/mle/icons/weat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265541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0616" y="2468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— OpenWeatherMap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13648" y="347472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forecast on event pages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with Bootstrap Icons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even if image CDN fails</a:t>
            </a:r>
            <a:endParaRPr lang="en-US" sz="1200" dirty="0"/>
          </a:p>
          <a:p>
            <a:pPr marL="152400" indent="-1524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outdoor coastal events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email redirect </a:t>
            </a:r>
            <a:pPr algn="ct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fake accounts’ emails be shown live in one inbox — while a real lecturer who registers gets email at their own address.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· 10 · DASHBOARD &amp;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874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938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4028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38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4.3k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74920" y="1874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938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7492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ads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22960" y="30632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720840" y="320040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pic>
        <p:nvPicPr>
          <p:cNvPr id="18" name="Image 0" descr="/home/claude/mle/icons/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735" y="3323295"/>
            <a:ext cx="266273" cy="2662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+ 3 Chart.js charts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406640" y="3493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by state, monthly revenue, events by category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720840" y="397764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pic>
        <p:nvPicPr>
          <p:cNvPr id="22" name="Image 1" descr="/home/claude/ml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35" y="4100535"/>
            <a:ext cx="266273" cy="26627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0664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events &amp; ads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406640" y="4270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badges; approve or reject with a reason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20840" y="475488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pic>
        <p:nvPicPr>
          <p:cNvPr id="26" name="Image 2" descr="/home/claude/ml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735" y="4877775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6640" y="4709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406640" y="50474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status: active / suspended / banned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720840" y="553212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pic>
        <p:nvPicPr>
          <p:cNvPr id="30" name="Image 3" descr="/home/claude/mle/icons/analyt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735" y="5655015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06640" y="5486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endpoints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06640" y="5824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districts, CTR, catch-volume trends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· 11 · TRUST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 &amp;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10456A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Logging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logged: CREATE/UPDATE/DELETE/APPROVE/REJECT/LOGIN/LOGOUT/EXPORT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user, IP, user-agent, timestamp, and old/new values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audit-log viewer — filter by action, user, date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offline records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name + email, not raw IDs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20574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7744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1" name="Image 1" descr="/home/claude/ml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62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25512" y="2423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posture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83280"/>
            <a:ext cx="4434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hashing; stateless JWT (60-min)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guards on every protected route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+ parameterised queries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5-strike account lockout (15 min)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Stripe payments; server-side credit checks; strict CORS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4206240" cy="4206240"/>
          </a:xfrm>
          <a:prstGeom prst="ellipse">
            <a:avLst/>
          </a:prstGeom>
          <a:solidFill>
            <a:srgbClr val="0E33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SUSTAINABLE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business model, not just a demo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0260" y="274320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7" name="Image 0" descr="/home/claude/mle/icons/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004" y="29809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794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posting fees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4251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RM10 per event — direct, usage-based revenue.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44568" y="24231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1868" y="274320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2" name="Image 1" descr="/home/claude/mle/icons/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2" y="29809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794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advertising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18888" y="4251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RM40–RM130 / 7 days — premium placement costs more.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66176" y="24231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0344F"/>
          </a:solidFill>
          <a:ln w="12700">
            <a:solidFill>
              <a:srgbClr val="1C4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23476" y="274320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7" name="Image 2" descr="/home/claude/mle/icons/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0" y="29809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794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credit wallet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0496" y="42519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upfront + breakage on unused, non-cashable credits.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placement  +  recurring auto-renewals  +  prepaid float</a:t>
            </a:r>
            <a:pPr algn="ctr"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while browsing, the feed, and the fishery marketplace stay free for the public.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8 functional requirements — met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31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1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bcrypt, 4 roles, RBAC, lockout</a:t>
            </a:r>
            <a:endParaRPr lang="en-US" sz="1100" dirty="0"/>
          </a:p>
        </p:txBody>
      </p:sp>
      <p:pic>
        <p:nvPicPr>
          <p:cNvPr id="9" name="Image 0" descr="/home/claude/ml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2304288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36208" y="20116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19088" y="2231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19088" y="2231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04888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104888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KPIs + Chart.js; role dashboards</a:t>
            </a:r>
            <a:endParaRPr lang="en-US" sz="1100" dirty="0"/>
          </a:p>
        </p:txBody>
      </p:sp>
      <p:pic>
        <p:nvPicPr>
          <p:cNvPr id="15" name="Image 1" descr="/home/claude/ml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28" y="2304288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2960" y="3127248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33467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691640" y="32369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(CRUD)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691640" y="3584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ads, news, catches, spots, posts</a:t>
            </a:r>
            <a:endParaRPr lang="en-US" sz="1100" dirty="0"/>
          </a:p>
        </p:txBody>
      </p:sp>
      <p:pic>
        <p:nvPicPr>
          <p:cNvPr id="21" name="Image 2" descr="/home/claude/ml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419856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36208" y="3127248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19088" y="33467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19"/>
          <p:cNvSpPr/>
          <p:nvPr/>
        </p:nvSpPr>
        <p:spPr>
          <a:xfrm>
            <a:off x="6419088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104888" y="32369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104888" y="3584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 approve → live → archive; cron</a:t>
            </a:r>
            <a:endParaRPr lang="en-US" sz="1100" dirty="0"/>
          </a:p>
        </p:txBody>
      </p:sp>
      <p:pic>
        <p:nvPicPr>
          <p:cNvPr id="27" name="Image 3" descr="/home/claude/ml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928" y="3419856"/>
            <a:ext cx="347472" cy="3474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2960" y="4242816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05840" y="44622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4"/>
          <p:cNvSpPr/>
          <p:nvPr/>
        </p:nvSpPr>
        <p:spPr>
          <a:xfrm>
            <a:off x="100584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691640" y="4352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Integration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1691640" y="47000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SendGrid · OpenWeatherMap · Supabase</a:t>
            </a:r>
            <a:endParaRPr lang="en-US" sz="1100" dirty="0"/>
          </a:p>
        </p:txBody>
      </p:sp>
      <p:pic>
        <p:nvPicPr>
          <p:cNvPr id="33" name="Image 4" descr="/home/claude/ml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535424"/>
            <a:ext cx="347472" cy="34747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236208" y="4242816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19088" y="44622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29"/>
          <p:cNvSpPr/>
          <p:nvPr/>
        </p:nvSpPr>
        <p:spPr>
          <a:xfrm>
            <a:off x="6419088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7104888" y="43525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7104888" y="47000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filter, sort, pagination</a:t>
            </a:r>
            <a:endParaRPr lang="en-US" sz="1100" dirty="0"/>
          </a:p>
        </p:txBody>
      </p:sp>
      <p:pic>
        <p:nvPicPr>
          <p:cNvPr id="39" name="Image 5" descr="/home/claude/ml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928" y="4535424"/>
            <a:ext cx="347472" cy="34747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822960" y="5358384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005840" y="5577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34"/>
          <p:cNvSpPr/>
          <p:nvPr/>
        </p:nvSpPr>
        <p:spPr>
          <a:xfrm>
            <a:off x="100584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1691640" y="5468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Logging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691640" y="58155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trail + viewer + CSV export</a:t>
            </a:r>
            <a:endParaRPr lang="en-US" sz="1100" dirty="0"/>
          </a:p>
        </p:txBody>
      </p:sp>
      <p:pic>
        <p:nvPicPr>
          <p:cNvPr id="45" name="Image 6" descr="/home/claude/mle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5650992"/>
            <a:ext cx="347472" cy="347472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6236208" y="5358384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419088" y="5577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39"/>
          <p:cNvSpPr/>
          <p:nvPr/>
        </p:nvSpPr>
        <p:spPr>
          <a:xfrm>
            <a:off x="6419088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0"/>
          <p:cNvSpPr/>
          <p:nvPr/>
        </p:nvSpPr>
        <p:spPr>
          <a:xfrm>
            <a:off x="7104888" y="5468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Decision Support</a:t>
            </a:r>
            <a:endParaRPr lang="en-US" sz="1350" dirty="0"/>
          </a:p>
        </p:txBody>
      </p:sp>
      <p:sp>
        <p:nvSpPr>
          <p:cNvPr id="50" name="Text 41"/>
          <p:cNvSpPr/>
          <p:nvPr/>
        </p:nvSpPr>
        <p:spPr>
          <a:xfrm>
            <a:off x="7104888" y="58155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districts, CTR, catch trends</a:t>
            </a:r>
            <a:endParaRPr lang="en-US" sz="1100" dirty="0"/>
          </a:p>
        </p:txBody>
      </p:sp>
      <p:pic>
        <p:nvPicPr>
          <p:cNvPr id="51" name="Image 7" descr="/home/claude/mle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3928" y="5650992"/>
            <a:ext cx="347472" cy="34747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DevOps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256032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6" name="Image 0" descr="/home/claude/mle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524" y="27980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78992" y="40690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Bootstrap frontend, served from the edge — always instant.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93592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56032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1" name="Image 1" descr="/home/claude/ml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7980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849624" y="40690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built from a Dockerfile; sleeps when idle on free tier.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560320"/>
            <a:ext cx="914400" cy="914400"/>
          </a:xfrm>
          <a:prstGeom prst="ellipse">
            <a:avLst/>
          </a:prstGeom>
          <a:solidFill>
            <a:srgbClr val="10456A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16" name="Image 2" descr="/home/claude/ml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7980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20256" y="40690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+ the “uploads” object-storage bucket.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0676" y="2560320"/>
            <a:ext cx="914400" cy="91440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21" name="Image 3" descr="/home/claude/mle/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7980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90888" y="40690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truth; push to main auto-deploys frontend and backend.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Twelve-factor config: </a:t>
            </a:r>
            <a:pPr algn="ctr"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per-host env vars, never committed. A Dockerfile + Procfile keep the backend portable to Fly.io or Railway.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demo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homepage (top banner + featured), events with live filter, Sponsored page, Catch of the Day, Fishing Spots.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56946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9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23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Organizer 2 → dashboard (events, ads, notifications); open Wallet showing RM300.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1729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72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1272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ad → pick “Top banner” (price jumps to RM130), toggle auto-renew, pay with credits.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77647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76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7307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 event → pay with credits or the Stripe test card 4242 4242 4242 4242.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37997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79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demo buttons: “ad expiring” + “low balance” → check the demo inbox.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83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937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Admin → approve the pending event &amp; ad, view analytics charts, export the audit log.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558698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586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54126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community feed → post, comment, and like.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98280" y="1965960"/>
            <a:ext cx="2286000" cy="4160520"/>
          </a:xfrm>
          <a:prstGeom prst="roundRect">
            <a:avLst>
              <a:gd name="adj" fmla="val 4000"/>
            </a:avLst>
          </a:prstGeom>
          <a:solidFill>
            <a:srgbClr val="0B2A43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26880" y="2953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admin@…my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3172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Admin@123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1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26880" y="3794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tac@demo…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4014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0" y="4379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2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2688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ppt@demo…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26880" y="4855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5221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326880" y="5477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nck@demo…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0" y="5696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Pass@123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WE WOULD DEFEND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engineering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4086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6" name="Image 0" descr="/home/claude/ml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3" y="2476927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76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25786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+ Supabase instead of one server — keeps the frontend always fast.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6208" y="20116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234086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11" name="Image 1" descr="/home/claude/mle/icons/str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71" y="2476927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6328" y="2176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over ToyyibPay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96328" y="25786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test mode, better docs, no business verification — a stronger real integration.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3502152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38313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16" name="Image 2" descr="/home/claude/mle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3" y="396739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6667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JWT auth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783080" y="40690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the 4-role model, lockout, and audit logging.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36208" y="3502152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8313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21" name="Image 3" descr="/home/claude/mle/icons/weath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396739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6328" y="36667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Bootstrap-icon weather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96328" y="40690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OpenWeatherMap’s unreliable image CDN — consistent every time.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" y="4992624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1560" y="53218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26" name="Image 4" descr="/home/claude/mle/icons/wal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3" y="545787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515721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Non-cashable credits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783080" y="555955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internal economy with no real-money withdrawal concerns.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36208" y="4992624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 w="12700">
            <a:solidFill>
              <a:srgbClr val="D8E3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64808" y="53218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pic>
        <p:nvPicPr>
          <p:cNvPr id="31" name="Image 5" descr="/home/claude/mle/icons/e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71" y="5457871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96328" y="515721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email redirect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96328" y="555955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accounts’ mail shown live in one inbox; real users get real delivery.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0E335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463040"/>
            <a:ext cx="4389120" cy="43891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1005840" cy="100584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0B2A43">
                <a:alpha val="18000"/>
              </a:srgbClr>
            </a:outerShdw>
          </a:effectLst>
        </p:spPr>
      </p:sp>
      <p:pic>
        <p:nvPicPr>
          <p:cNvPr id="5" name="Image 0" descr="/home/claude/mle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3400" dirty="0"/>
          </a:p>
        </p:txBody>
      </p:sp>
      <p:pic>
        <p:nvPicPr>
          <p:cNvPr id="7" name="Image 1" descr="/home/claude/ml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91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60604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deployed, real-integration enterprise system — all 8 requirements met, several exceeded.</a:t>
            </a:r>
            <a:endParaRPr lang="en-US" sz="1450" dirty="0"/>
          </a:p>
        </p:txBody>
      </p:sp>
      <p:pic>
        <p:nvPicPr>
          <p:cNvPr id="9" name="Image 2" descr="/home/claude/ml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26440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genuine problem for regional events and coastal fishermen’s co-ops.</a:t>
            </a:r>
            <a:endParaRPr lang="en-US" sz="1450" dirty="0"/>
          </a:p>
        </p:txBody>
      </p:sp>
      <p:pic>
        <p:nvPicPr>
          <p:cNvPr id="11" name="Image 3" descr="/home/claude/ml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9592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392277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cloud architecture, live Stripe / SendGrid / OpenWeatherMap, secure multi-role auth, full audit trail.</a:t>
            </a:r>
            <a:endParaRPr lang="en-US" sz="1450" dirty="0"/>
          </a:p>
        </p:txBody>
      </p:sp>
      <p:pic>
        <p:nvPicPr>
          <p:cNvPr id="13" name="Image 4" descr="/home/claude/ml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54296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458114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E4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three-pillar business model that keeps public access free while staying sustainable.</a:t>
            </a:r>
            <a:endParaRPr lang="en-US" sz="1450" dirty="0"/>
          </a:p>
        </p:txBody>
      </p:sp>
      <p:sp>
        <p:nvSpPr>
          <p:cNvPr id="15" name="Shape 8"/>
          <p:cNvSpPr/>
          <p:nvPr/>
        </p:nvSpPr>
        <p:spPr>
          <a:xfrm>
            <a:off x="868680" y="5532120"/>
            <a:ext cx="274320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</a:t>
            </a:r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live at mylokalevent.vercel.app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147572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MyLokalEvent — TEB3323</dc:title>
  <dc:subject>PptxGenJS Presentation</dc:subject>
  <dc:creator>MyLokalEvent Team</dc:creator>
  <cp:lastModifiedBy>MyLokalEvent Team</cp:lastModifiedBy>
  <cp:revision>1</cp:revision>
  <dcterms:created xsi:type="dcterms:W3CDTF">2026-07-18T03:57:55Z</dcterms:created>
  <dcterms:modified xsi:type="dcterms:W3CDTF">2026-07-18T03:57:55Z</dcterms:modified>
</cp:coreProperties>
</file>